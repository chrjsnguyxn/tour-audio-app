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CÀI ĐẶT HIỆU ỨNG CLICK HIỆN ĐÁP ÁN TRONG POWERPOINT:</a:t>
            </a:r>
          </a:p>
          <a:p>
            <a:r>
              <a:t>1. Do tệp tạo bằng Python là tệp tĩnh, bạn hãy nhấp chọn khối câu hỏi này trên trang.</a:t>
            </a:r>
          </a:p>
          <a:p>
            <a:r>
              <a:t>2. Trong PowerPoint, bạn hãy vẽ một nút bấm nhỏ đè lên phần chữ 'Đáp án đúng' hoặc tạo một nút 'Hiện đáp án'.</a:t>
            </a:r>
          </a:p>
          <a:p>
            <a:r>
              <a:t>3. Chọn dòng chữ đáp án đúng có đánh dấu ✓, chuyển sang tab 'Animations' (Hoạt họa) -&gt; chọn hiệu ứng 'Appear' (Xuất hiện) hoặc 'Fade' (Mờ dần).</a:t>
            </a:r>
          </a:p>
          <a:p>
            <a:r>
              <a:t>4. Ở góc phải Tab Animations, chọn 'Trigger' -&gt; 'On Click of' -&gt; chọn đúng tên nút bấm của câu hỏi đó.</a:t>
            </a:r>
          </a:p>
          <a:p>
            <a:r>
              <a:t>Chúc bạn có một buổi thuyết trình tương tác thành công rực rỡ!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CÀI ĐẶT HIỆU ỨNG CLICK HIỆN ĐÁP ÁN TRONG POWERPOINT:</a:t>
            </a:r>
          </a:p>
          <a:p>
            <a:r>
              <a:t>1. Do tệp tạo bằng Python là tệp tĩnh, bạn hãy nhấp chọn khối câu hỏi này trên trang.</a:t>
            </a:r>
          </a:p>
          <a:p>
            <a:r>
              <a:t>2. Trong PowerPoint, bạn hãy vẽ một nút bấm nhỏ đè lên phần chữ 'Đáp án đúng' hoặc tạo một nút 'Hiện đáp án'.</a:t>
            </a:r>
          </a:p>
          <a:p>
            <a:r>
              <a:t>3. Chọn dòng chữ đáp án đúng có đánh dấu ✓, chuyển sang tab 'Animations' (Hoạt họa) -&gt; chọn hiệu ứng 'Appear' (Xuất hiện) hoặc 'Fade' (Mờ dần).</a:t>
            </a:r>
          </a:p>
          <a:p>
            <a:r>
              <a:t>4. Ở góc phải Tab Animations, chọn 'Trigger' -&gt; 'On Click of' -&gt; chọn đúng tên nút bấm của câu hỏi đó.</a:t>
            </a:r>
          </a:p>
          <a:p>
            <a:r>
              <a:t>Chúc bạn có một buổi thuyết trình tương tác thành công rực rỡ!</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DẪN CÀI ĐẶT HIỆU ỨNG CLICK HIỆN ĐÁP ÁN TRONG POWERPOINT:</a:t>
            </a:r>
          </a:p>
          <a:p>
            <a:r>
              <a:t>1. Do tệp tạo bằng Python là tệp tĩnh, bạn hãy nhấp chọn khối câu hỏi này trên trang.</a:t>
            </a:r>
          </a:p>
          <a:p>
            <a:r>
              <a:t>2. Trong PowerPoint, bạn hãy vẽ một nút bấm nhỏ đè lên phần chữ 'Đáp án đúng' hoặc tạo một nút 'Hiện đáp án'.</a:t>
            </a:r>
          </a:p>
          <a:p>
            <a:r>
              <a:t>3. Chọn dòng chữ đáp án đúng có đánh dấu ✓, chuyển sang tab 'Animations' (Hoạt họa) -&gt; chọn hiệu ứng 'Appear' (Xuất hiện) hoặc 'Fade' (Mờ dần).</a:t>
            </a:r>
          </a:p>
          <a:p>
            <a:r>
              <a:t>4. Ở góc phải Tab Animations, chọn 'Trigger' -&gt; 'On Click of' -&gt; chọn đúng tên nút bấm của câu hỏi đó.</a:t>
            </a:r>
          </a:p>
          <a:p>
            <a:r>
              <a:t>Chúc bạn có một buổi thuyết trình tương tác thành công rực rỡ!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C6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5752" cy="4114800"/>
          </a:xfrm>
          <a:prstGeom prst="rect">
            <a:avLst/>
          </a:prstGeom>
          <a:noFill/>
        </p:spPr>
        <p:txBody>
          <a:bodyPr wrap="square">
            <a:spAutoFit/>
          </a:bodyPr>
          <a:lstStyle/>
          <a:p>
            <a:pPr>
              <a:spcAft>
                <a:spcPts val="2000"/>
              </a:spcAft>
              <a:defRPr sz="1600" b="1">
                <a:solidFill>
                  <a:srgbClr val="8C6239"/>
                </a:solidFill>
                <a:latin typeface="Calibri"/>
              </a:defRPr>
            </a:pPr>
            <a:r>
              <a:t>HỌC PHẦN: KINH TẾ CHÍNH TRỊ MÁC - LÊNIN</a:t>
            </a:r>
          </a:p>
          <a:p>
            <a:pPr>
              <a:spcAft>
                <a:spcPts val="3000"/>
              </a:spcAft>
              <a:defRPr sz="4400" b="1">
                <a:solidFill>
                  <a:srgbClr val="2D2926"/>
                </a:solidFill>
                <a:latin typeface="Georgia"/>
              </a:defRPr>
            </a:pPr>
            <a:r>
              <a:t>CÁCH MẠNG CÔNG NGHIỆP</a:t>
            </a:r>
            <a:br/>
            <a:r>
              <a:t>VÀ CÔNG NGHIỆP HÓA</a:t>
            </a:r>
          </a:p>
          <a:p>
            <a:pPr>
              <a:defRPr sz="1600" i="1">
                <a:solidFill>
                  <a:srgbClr val="2D2926"/>
                </a:solidFill>
                <a:latin typeface="Calibri"/>
              </a:defRPr>
            </a:pPr>
            <a:r>
              <a:t>Nhóm thuyết trình: Nguyễn Quốc Minh  |  Phạm vi: Giáo trình Trang 225 – 245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AE5DA"/>
        </a:solidFill>
        <a:effectLst/>
      </p:bgPr>
    </p:bg>
    <p:spTree>
      <p:nvGrpSpPr>
        <p:cNvPr id="1" name=""/>
        <p:cNvGrpSpPr/>
        <p:nvPr/>
      </p:nvGrpSpPr>
      <p:grpSpPr/>
      <p:sp>
        <p:nvSpPr>
          <p:cNvPr id="2" name="TextBox 1"/>
          <p:cNvSpPr txBox="1"/>
          <p:nvPr/>
        </p:nvSpPr>
        <p:spPr>
          <a:xfrm>
            <a:off x="1371600" y="2286000"/>
            <a:ext cx="9445752" cy="2743200"/>
          </a:xfrm>
          <a:prstGeom prst="rect">
            <a:avLst/>
          </a:prstGeom>
          <a:noFill/>
        </p:spPr>
        <p:txBody>
          <a:bodyPr wrap="square">
            <a:spAutoFit/>
          </a:bodyPr>
          <a:lstStyle/>
          <a:p>
            <a:pPr algn="ctr">
              <a:spcAft>
                <a:spcPts val="1000"/>
              </a:spcAft>
              <a:defRPr sz="1800" b="1">
                <a:solidFill>
                  <a:srgbClr val="8C6239"/>
                </a:solidFill>
                <a:latin typeface="Calibri"/>
              </a:defRPr>
            </a:pPr>
            <a:r>
              <a:t>PHẦN 1</a:t>
            </a:r>
          </a:p>
          <a:p>
            <a:pPr algn="ctr">
              <a:spcAft>
                <a:spcPts val="1500"/>
              </a:spcAft>
              <a:defRPr sz="4000" b="1">
                <a:solidFill>
                  <a:srgbClr val="2D2926"/>
                </a:solidFill>
                <a:latin typeface="Georgia"/>
              </a:defRPr>
            </a:pPr>
            <a:r>
              <a:t>TÓM TẮT Ý CHÍNH CỐT LÕI</a:t>
            </a:r>
          </a:p>
          <a:p>
            <a:pPr algn="ctr">
              <a:defRPr sz="1600">
                <a:solidFill>
                  <a:srgbClr val="2D2926"/>
                </a:solidFill>
                <a:latin typeface="Calibri"/>
              </a:defRPr>
            </a:pPr>
            <a:r>
              <a:t>Khái quát các khái niệm, tiến trình lịch sử và thực tiễn Công nghiệp hóa tại Việt Nam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Các khái niệm nền tảng trong học phần</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26080" cy="457200"/>
          </a:xfrm>
          <a:prstGeom prst="rect">
            <a:avLst/>
          </a:prstGeom>
          <a:noFill/>
        </p:spPr>
        <p:txBody>
          <a:bodyPr wrap="square">
            <a:spAutoFit/>
          </a:bodyPr>
          <a:lstStyle/>
          <a:p>
            <a:pPr>
              <a:defRPr sz="1800" b="1">
                <a:solidFill>
                  <a:srgbClr val="8C6239"/>
                </a:solidFill>
                <a:latin typeface="Georgia"/>
              </a:defRPr>
            </a:pPr>
            <a:r>
              <a:t>1. CÔNG NGHIỆP</a:t>
            </a:r>
          </a:p>
        </p:txBody>
      </p:sp>
      <p:sp>
        <p:nvSpPr>
          <p:cNvPr id="6" name="TextBox 5"/>
          <p:cNvSpPr txBox="1"/>
          <p:nvPr/>
        </p:nvSpPr>
        <p:spPr>
          <a:xfrm>
            <a:off x="914400" y="2331720"/>
            <a:ext cx="2926080" cy="3566160"/>
          </a:xfrm>
          <a:prstGeom prst="rect">
            <a:avLst/>
          </a:prstGeom>
          <a:noFill/>
        </p:spPr>
        <p:txBody>
          <a:bodyPr wrap="square">
            <a:spAutoFit/>
          </a:bodyPr>
          <a:lstStyle/>
          <a:p>
            <a:pPr>
              <a:defRPr sz="1400">
                <a:solidFill>
                  <a:srgbClr val="2D2926"/>
                </a:solidFill>
                <a:latin typeface="Calibri"/>
              </a:defRPr>
            </a:pPr>
            <a:r>
              <a:t>Là ngành sản xuất vật chất thuộc khu vực II, sử dụng máy móc thiết bị và công nghệ hiện đại để khai thác, chế biến tài nguyên thiên nhiên tạo ra của cải vật chất phục vụ đời sống xã hội.</a:t>
            </a:r>
          </a:p>
        </p:txBody>
      </p:sp>
      <p:sp>
        <p:nvSpPr>
          <p:cNvPr id="7" name="Rounded Rectangle 6"/>
          <p:cNvSpPr/>
          <p:nvPr/>
        </p:nvSpPr>
        <p:spPr>
          <a:xfrm>
            <a:off x="4443984"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1828800"/>
            <a:ext cx="2926080" cy="457200"/>
          </a:xfrm>
          <a:prstGeom prst="rect">
            <a:avLst/>
          </a:prstGeom>
          <a:noFill/>
        </p:spPr>
        <p:txBody>
          <a:bodyPr wrap="square">
            <a:spAutoFit/>
          </a:bodyPr>
          <a:lstStyle/>
          <a:p>
            <a:pPr>
              <a:defRPr sz="1800" b="1">
                <a:solidFill>
                  <a:srgbClr val="8C6239"/>
                </a:solidFill>
                <a:latin typeface="Georgia"/>
              </a:defRPr>
            </a:pPr>
            <a:r>
              <a:t>2. CÔNG NGHIỆP HÓA</a:t>
            </a:r>
          </a:p>
        </p:txBody>
      </p:sp>
      <p:sp>
        <p:nvSpPr>
          <p:cNvPr id="9" name="TextBox 8"/>
          <p:cNvSpPr txBox="1"/>
          <p:nvPr/>
        </p:nvSpPr>
        <p:spPr>
          <a:xfrm>
            <a:off x="4626864" y="2331720"/>
            <a:ext cx="2926080" cy="3566160"/>
          </a:xfrm>
          <a:prstGeom prst="rect">
            <a:avLst/>
          </a:prstGeom>
          <a:noFill/>
        </p:spPr>
        <p:txBody>
          <a:bodyPr wrap="square">
            <a:spAutoFit/>
          </a:bodyPr>
          <a:lstStyle/>
          <a:p>
            <a:pPr>
              <a:defRPr sz="1400">
                <a:solidFill>
                  <a:srgbClr val="2D2926"/>
                </a:solidFill>
                <a:latin typeface="Calibri"/>
              </a:defRPr>
            </a:pPr>
            <a:r>
              <a:t>Là quá trình chuyển đổi căn bản, toàn diện các hoạt động sản xuất, kinh doanh, dịch vụ và quản lý từ sử dụng lao động thủ công là chính sang lao động sử dụng máy móc và công nghệ tiên tiến nhằm tạo ra năng suất lao động xã hội cao vượt trội.</a:t>
            </a:r>
          </a:p>
        </p:txBody>
      </p:sp>
      <p:sp>
        <p:nvSpPr>
          <p:cNvPr id="10" name="Rounded Rectangle 9"/>
          <p:cNvSpPr/>
          <p:nvPr/>
        </p:nvSpPr>
        <p:spPr>
          <a:xfrm>
            <a:off x="8156448"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8" y="1828800"/>
            <a:ext cx="2926080" cy="457200"/>
          </a:xfrm>
          <a:prstGeom prst="rect">
            <a:avLst/>
          </a:prstGeom>
          <a:noFill/>
        </p:spPr>
        <p:txBody>
          <a:bodyPr wrap="square">
            <a:spAutoFit/>
          </a:bodyPr>
          <a:lstStyle/>
          <a:p>
            <a:pPr>
              <a:defRPr sz="1800" b="1">
                <a:solidFill>
                  <a:srgbClr val="8C6239"/>
                </a:solidFill>
                <a:latin typeface="Georgia"/>
              </a:defRPr>
            </a:pPr>
            <a:r>
              <a:t>3. CÁCH MẠNG CÔNG NGHIỆP</a:t>
            </a:r>
          </a:p>
        </p:txBody>
      </p:sp>
      <p:sp>
        <p:nvSpPr>
          <p:cNvPr id="12" name="TextBox 11"/>
          <p:cNvSpPr txBox="1"/>
          <p:nvPr/>
        </p:nvSpPr>
        <p:spPr>
          <a:xfrm>
            <a:off x="8339328" y="2331720"/>
            <a:ext cx="2926080" cy="3566160"/>
          </a:xfrm>
          <a:prstGeom prst="rect">
            <a:avLst/>
          </a:prstGeom>
          <a:noFill/>
        </p:spPr>
        <p:txBody>
          <a:bodyPr wrap="square">
            <a:spAutoFit/>
          </a:bodyPr>
          <a:lstStyle/>
          <a:p>
            <a:pPr>
              <a:defRPr sz="1400">
                <a:solidFill>
                  <a:srgbClr val="2D2926"/>
                </a:solidFill>
                <a:latin typeface="Calibri"/>
              </a:defRPr>
            </a:pPr>
            <a:r>
              <a:t>Là bước nhảy vọt vĩ đại về chất trong lực lượng sản xuất và tư liệu lao động, dựa trên những phát minh mang tính đột phá về khoa học và kỹ thuật, từ đó thay đổi sâu sắc phương thức sản xuất và mọi mặt đời sống xã hội.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Tiến trình các cuộc Cách mạng Công nghiệp</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520440"/>
            <a:ext cx="10728655" cy="36576"/>
          </a:xfrm>
          <a:prstGeom prst="rect">
            <a:avLst/>
          </a:prstGeom>
          <a:solidFill>
            <a:srgbClr val="D2C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42316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48840" cy="1828800"/>
          </a:xfrm>
          <a:prstGeom prst="rect">
            <a:avLst/>
          </a:prstGeom>
          <a:noFill/>
        </p:spPr>
        <p:txBody>
          <a:bodyPr wrap="square">
            <a:spAutoFit/>
          </a:bodyPr>
          <a:lstStyle/>
          <a:p>
            <a:pPr>
              <a:spcAft>
                <a:spcPts val="400"/>
              </a:spcAft>
              <a:defRPr sz="1500" b="1">
                <a:solidFill>
                  <a:srgbClr val="8C6239"/>
                </a:solidFill>
                <a:latin typeface="Georgia"/>
              </a:defRPr>
            </a:pPr>
            <a:r>
              <a:t>CMCN 1.0 (Thế kỷ XVIII)</a:t>
            </a:r>
          </a:p>
          <a:p>
            <a:pPr>
              <a:defRPr sz="1100">
                <a:solidFill>
                  <a:srgbClr val="2D2926"/>
                </a:solidFill>
                <a:latin typeface="Calibri"/>
              </a:defRPr>
            </a:pPr>
            <a:r>
              <a:t>Cơ giới hóa</a:t>
            </a:r>
            <a:br/>
            <a:r>
              <a:t>Khởi nguồn từ dệt may nước Anh. Máy hơi nước của James Watt thay thế sức người bằng cơ khí.</a:t>
            </a:r>
          </a:p>
        </p:txBody>
      </p:sp>
      <p:sp>
        <p:nvSpPr>
          <p:cNvPr id="7" name="Rounded Rectangle 6"/>
          <p:cNvSpPr/>
          <p:nvPr/>
        </p:nvSpPr>
        <p:spPr>
          <a:xfrm>
            <a:off x="3474720" y="3840480"/>
            <a:ext cx="242316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3931920"/>
            <a:ext cx="2148840" cy="1828800"/>
          </a:xfrm>
          <a:prstGeom prst="rect">
            <a:avLst/>
          </a:prstGeom>
          <a:noFill/>
        </p:spPr>
        <p:txBody>
          <a:bodyPr wrap="square">
            <a:spAutoFit/>
          </a:bodyPr>
          <a:lstStyle/>
          <a:p>
            <a:pPr>
              <a:spcAft>
                <a:spcPts val="400"/>
              </a:spcAft>
              <a:defRPr sz="1500" b="1">
                <a:solidFill>
                  <a:srgbClr val="8C6239"/>
                </a:solidFill>
                <a:latin typeface="Georgia"/>
              </a:defRPr>
            </a:pPr>
            <a:r>
              <a:t>CMCN 2.0 (Thế kỷ XIX)</a:t>
            </a:r>
          </a:p>
          <a:p>
            <a:pPr>
              <a:defRPr sz="1100">
                <a:solidFill>
                  <a:srgbClr val="2D2926"/>
                </a:solidFill>
                <a:latin typeface="Calibri"/>
              </a:defRPr>
            </a:pPr>
            <a:r>
              <a:t>Điện khí hóa</a:t>
            </a:r>
            <a:br/>
            <a:r>
              <a:t>Sự ra đời của điện năng, động cơ đốt trong và dây chuyền lắp ráp hàng loạt nâng cao năng suất.</a:t>
            </a:r>
          </a:p>
        </p:txBody>
      </p:sp>
      <p:sp>
        <p:nvSpPr>
          <p:cNvPr id="9" name="Rounded Rectangle 8"/>
          <p:cNvSpPr/>
          <p:nvPr/>
        </p:nvSpPr>
        <p:spPr>
          <a:xfrm>
            <a:off x="6217920" y="1645920"/>
            <a:ext cx="242316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37360"/>
            <a:ext cx="2148840" cy="1828800"/>
          </a:xfrm>
          <a:prstGeom prst="rect">
            <a:avLst/>
          </a:prstGeom>
          <a:noFill/>
        </p:spPr>
        <p:txBody>
          <a:bodyPr wrap="square">
            <a:spAutoFit/>
          </a:bodyPr>
          <a:lstStyle/>
          <a:p>
            <a:pPr>
              <a:spcAft>
                <a:spcPts val="400"/>
              </a:spcAft>
              <a:defRPr sz="1500" b="1">
                <a:solidFill>
                  <a:srgbClr val="8C6239"/>
                </a:solidFill>
                <a:latin typeface="Georgia"/>
              </a:defRPr>
            </a:pPr>
            <a:r>
              <a:t>CMCN 3.0 (Thập niên 1960)</a:t>
            </a:r>
          </a:p>
          <a:p>
            <a:pPr>
              <a:defRPr sz="1100">
                <a:solidFill>
                  <a:srgbClr val="2D2926"/>
                </a:solidFill>
                <a:latin typeface="Calibri"/>
              </a:defRPr>
            </a:pPr>
            <a:r>
              <a:t>Tự động hóa</a:t>
            </a:r>
            <a:br/>
            <a:r>
              <a:t>Sự bùng nổ của chất bán dẫn, máy tính cá nhân và Internet giúp tự động hóa dây chuyền.</a:t>
            </a:r>
          </a:p>
        </p:txBody>
      </p:sp>
      <p:sp>
        <p:nvSpPr>
          <p:cNvPr id="11" name="Rounded Rectangle 10"/>
          <p:cNvSpPr/>
          <p:nvPr/>
        </p:nvSpPr>
        <p:spPr>
          <a:xfrm>
            <a:off x="8961120" y="3840480"/>
            <a:ext cx="2423160" cy="2011680"/>
          </a:xfrm>
          <a:prstGeom prst="roundRect">
            <a:avLst/>
          </a:prstGeom>
          <a:solidFill>
            <a:srgbClr val="FFFFFF"/>
          </a:solidFill>
          <a:ln w="19050">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3931920"/>
            <a:ext cx="2148840" cy="1828800"/>
          </a:xfrm>
          <a:prstGeom prst="rect">
            <a:avLst/>
          </a:prstGeom>
          <a:noFill/>
        </p:spPr>
        <p:txBody>
          <a:bodyPr wrap="square">
            <a:spAutoFit/>
          </a:bodyPr>
          <a:lstStyle/>
          <a:p>
            <a:pPr>
              <a:spcAft>
                <a:spcPts val="400"/>
              </a:spcAft>
              <a:defRPr sz="1500" b="1">
                <a:solidFill>
                  <a:srgbClr val="8C6239"/>
                </a:solidFill>
                <a:latin typeface="Georgia"/>
              </a:defRPr>
            </a:pPr>
            <a:r>
              <a:t>CMCN 4.0 (Hiện nay)</a:t>
            </a:r>
          </a:p>
          <a:p>
            <a:pPr>
              <a:defRPr sz="1100">
                <a:solidFill>
                  <a:srgbClr val="2D2926"/>
                </a:solidFill>
                <a:latin typeface="Calibri"/>
              </a:defRPr>
            </a:pPr>
            <a:r>
              <a:t>Thông minh hóa</a:t>
            </a:r>
            <a:br/>
            <a:r>
              <a:t>Sự kết hợp giữa AI, IoT, Big Data tạo nên hệ thống sản xuất siêu kết nối thông minh.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Tính tất yếu khách quan của CNH ở Việt Nam</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486400" cy="4572000"/>
          </a:xfrm>
          <a:prstGeom prst="rect">
            <a:avLst/>
          </a:prstGeom>
          <a:noFill/>
        </p:spPr>
        <p:txBody>
          <a:bodyPr wrap="square">
            <a:spAutoFit/>
          </a:bodyPr>
          <a:lstStyle/>
          <a:p>
            <a:pPr>
              <a:spcAft>
                <a:spcPts val="1500"/>
              </a:spcAft>
              <a:defRPr sz="2200" b="1">
                <a:solidFill>
                  <a:srgbClr val="2D2926"/>
                </a:solidFill>
                <a:latin typeface="Georgia"/>
              </a:defRPr>
            </a:pPr>
            <a:r>
              <a:t>Tại sao Việt Nam bắt buộc phải tiến hành CNH?</a:t>
            </a:r>
          </a:p>
          <a:p>
            <a:pPr>
              <a:spcAft>
                <a:spcPts val="1000"/>
              </a:spcAft>
              <a:defRPr sz="1300">
                <a:solidFill>
                  <a:srgbClr val="2D2926"/>
                </a:solidFill>
                <a:latin typeface="Calibri"/>
              </a:defRPr>
            </a:pPr>
            <a:r>
              <a:t>• Xây dựng cơ sở vật chất - kỹ thuật cho CNXH: Việt Nam quá độ từ nền nông nghiệp lạc hậu, bắt buộc phải CNH để hiện đại hóa sản xuất xã hội.</a:t>
            </a:r>
          </a:p>
          <a:p>
            <a:pPr>
              <a:spcAft>
                <a:spcPts val="1000"/>
              </a:spcAft>
              <a:defRPr sz="1300">
                <a:solidFill>
                  <a:srgbClr val="2D2926"/>
                </a:solidFill>
                <a:latin typeface="Calibri"/>
              </a:defRPr>
            </a:pPr>
            <a:r>
              <a:t>• Phát triển lực lượng sản xuất: Nâng cao năng suất lao động tổng thể, tăng khả năng cạnh tranh trong kỷ nguyên kinh tế số.</a:t>
            </a:r>
          </a:p>
          <a:p>
            <a:pPr>
              <a:spcAft>
                <a:spcPts val="1000"/>
              </a:spcAft>
              <a:defRPr sz="1300">
                <a:solidFill>
                  <a:srgbClr val="2D2926"/>
                </a:solidFill>
                <a:latin typeface="Calibri"/>
              </a:defRPr>
            </a:pPr>
            <a:r>
              <a:t>• Bảo vệ Tổ quốc vững chắc: Tạo cơ sở vật chất củng cố tiềm lực quốc phòng toàn dân và an ninh quốc gia chủ động.</a:t>
            </a:r>
          </a:p>
          <a:p>
            <a:pPr>
              <a:spcAft>
                <a:spcPts val="1000"/>
              </a:spcAft>
              <a:defRPr sz="1300">
                <a:solidFill>
                  <a:srgbClr val="2D2926"/>
                </a:solidFill>
                <a:latin typeface="Calibri"/>
              </a:defRPr>
            </a:pPr>
            <a:r>
              <a:t>• Nâng cao vị thế kinh tế: Hội nhập kinh tế quốc tế sâu rộng mà vẫn giữ vững tính độc lập, tự chủ.</a:t>
            </a:r>
          </a:p>
        </p:txBody>
      </p:sp>
      <p:sp>
        <p:nvSpPr>
          <p:cNvPr id="5" name="Rounded Rectangle 4"/>
          <p:cNvSpPr/>
          <p:nvPr/>
        </p:nvSpPr>
        <p:spPr>
          <a:xfrm>
            <a:off x="6766560" y="1645920"/>
            <a:ext cx="4663440" cy="4389120"/>
          </a:xfrm>
          <a:prstGeom prst="roundRect">
            <a:avLst/>
          </a:prstGeom>
          <a:solidFill>
            <a:srgbClr val="EAE5DA"/>
          </a:solidFill>
          <a:ln w="1270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i="1">
                <a:solidFill>
                  <a:srgbClr val="8C6239"/>
                </a:solidFill>
                <a:latin typeface="Calibri"/>
              </a:defRPr>
            </a:pPr>
            <a:r>
              <a:t>[ Khung ảnh minh họa ]</a:t>
            </a:r>
            <a:br/>
            <a:br/>
            <a:r>
              <a:t>(Có thể chèn hình ảnh Nhà máy dệt thời xưa hoặc Cơ khí hóa Việt Nam)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3 Nội dung cốt lõi của CNH ở Việt Nam</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26080" cy="457200"/>
          </a:xfrm>
          <a:prstGeom prst="rect">
            <a:avLst/>
          </a:prstGeom>
          <a:noFill/>
        </p:spPr>
        <p:txBody>
          <a:bodyPr wrap="square">
            <a:spAutoFit/>
          </a:bodyPr>
          <a:lstStyle/>
          <a:p>
            <a:pPr>
              <a:defRPr sz="1800" b="1">
                <a:solidFill>
                  <a:srgbClr val="8C6239"/>
                </a:solidFill>
                <a:latin typeface="Georgia"/>
              </a:defRPr>
            </a:pPr>
            <a:r>
              <a:t>I. CHUYỂN DỊCH CƠ CẤU KINH TẾ</a:t>
            </a:r>
          </a:p>
        </p:txBody>
      </p:sp>
      <p:sp>
        <p:nvSpPr>
          <p:cNvPr id="6" name="TextBox 5"/>
          <p:cNvSpPr txBox="1"/>
          <p:nvPr/>
        </p:nvSpPr>
        <p:spPr>
          <a:xfrm>
            <a:off x="914400" y="2331720"/>
            <a:ext cx="2926080" cy="3566160"/>
          </a:xfrm>
          <a:prstGeom prst="rect">
            <a:avLst/>
          </a:prstGeom>
          <a:noFill/>
        </p:spPr>
        <p:txBody>
          <a:bodyPr wrap="square">
            <a:spAutoFit/>
          </a:bodyPr>
          <a:lstStyle/>
          <a:p>
            <a:pPr>
              <a:defRPr sz="1400">
                <a:solidFill>
                  <a:srgbClr val="2D2926"/>
                </a:solidFill>
                <a:latin typeface="Calibri"/>
              </a:defRPr>
            </a:pPr>
            <a:r>
              <a:t>• Giảm tỷ trọng nông nghiệp nông thôn; tăng nhanh tỷ trọng công nghiệp chế tạo và dịch vụ hiện đại.</a:t>
            </a:r>
            <a:br/>
            <a:r>
              <a:t>• Quy hoạch phát triển vùng kinh tế trọng điểm dựa theo lợi thế cạnh tranh tự nhiên của từng vùng miền.</a:t>
            </a:r>
          </a:p>
        </p:txBody>
      </p:sp>
      <p:sp>
        <p:nvSpPr>
          <p:cNvPr id="7" name="Rounded Rectangle 6"/>
          <p:cNvSpPr/>
          <p:nvPr/>
        </p:nvSpPr>
        <p:spPr>
          <a:xfrm>
            <a:off x="4443984"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1828800"/>
            <a:ext cx="2926080" cy="457200"/>
          </a:xfrm>
          <a:prstGeom prst="rect">
            <a:avLst/>
          </a:prstGeom>
          <a:noFill/>
        </p:spPr>
        <p:txBody>
          <a:bodyPr wrap="square">
            <a:spAutoFit/>
          </a:bodyPr>
          <a:lstStyle/>
          <a:p>
            <a:pPr>
              <a:defRPr sz="1800" b="1">
                <a:solidFill>
                  <a:srgbClr val="8C6239"/>
                </a:solidFill>
                <a:latin typeface="Georgia"/>
              </a:defRPr>
            </a:pPr>
            <a:r>
              <a:t>II. PHÁT TRIỂN LỰC LƯỢNG SẢN XUẤT</a:t>
            </a:r>
          </a:p>
        </p:txBody>
      </p:sp>
      <p:sp>
        <p:nvSpPr>
          <p:cNvPr id="9" name="TextBox 8"/>
          <p:cNvSpPr txBox="1"/>
          <p:nvPr/>
        </p:nvSpPr>
        <p:spPr>
          <a:xfrm>
            <a:off x="4626864" y="2331720"/>
            <a:ext cx="2926080" cy="3566160"/>
          </a:xfrm>
          <a:prstGeom prst="rect">
            <a:avLst/>
          </a:prstGeom>
          <a:noFill/>
        </p:spPr>
        <p:txBody>
          <a:bodyPr wrap="square">
            <a:spAutoFit/>
          </a:bodyPr>
          <a:lstStyle/>
          <a:p>
            <a:pPr>
              <a:defRPr sz="1400">
                <a:solidFill>
                  <a:srgbClr val="2D2926"/>
                </a:solidFill>
                <a:latin typeface="Calibri"/>
              </a:defRPr>
            </a:pPr>
            <a:r>
              <a:t>• Chuyển giao, ứng dụng mạnh mẽ các đột phá công nghệ mới vào sản xuất.</a:t>
            </a:r>
            <a:br/>
            <a:r>
              <a:t>• Coi trọng giáo dục đào tạo nguồn nhân lực chất lượng cao – chìa khóa quyết định sự thịnh vượng bền vững.</a:t>
            </a:r>
          </a:p>
        </p:txBody>
      </p:sp>
      <p:sp>
        <p:nvSpPr>
          <p:cNvPr id="10" name="Rounded Rectangle 9"/>
          <p:cNvSpPr/>
          <p:nvPr/>
        </p:nvSpPr>
        <p:spPr>
          <a:xfrm>
            <a:off x="8156448" y="1645920"/>
            <a:ext cx="3291840" cy="4389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8" y="1828800"/>
            <a:ext cx="2926080" cy="457200"/>
          </a:xfrm>
          <a:prstGeom prst="rect">
            <a:avLst/>
          </a:prstGeom>
          <a:noFill/>
        </p:spPr>
        <p:txBody>
          <a:bodyPr wrap="square">
            <a:spAutoFit/>
          </a:bodyPr>
          <a:lstStyle/>
          <a:p>
            <a:pPr>
              <a:defRPr sz="1800" b="1">
                <a:solidFill>
                  <a:srgbClr val="8C6239"/>
                </a:solidFill>
                <a:latin typeface="Georgia"/>
              </a:defRPr>
            </a:pPr>
            <a:r>
              <a:t>III. HOÀN THIỆN QUAN HỆ SẢN XUẤT</a:t>
            </a:r>
          </a:p>
        </p:txBody>
      </p:sp>
      <p:sp>
        <p:nvSpPr>
          <p:cNvPr id="12" name="TextBox 11"/>
          <p:cNvSpPr txBox="1"/>
          <p:nvPr/>
        </p:nvSpPr>
        <p:spPr>
          <a:xfrm>
            <a:off x="8339328" y="2331720"/>
            <a:ext cx="2926080" cy="3566160"/>
          </a:xfrm>
          <a:prstGeom prst="rect">
            <a:avLst/>
          </a:prstGeom>
          <a:noFill/>
        </p:spPr>
        <p:txBody>
          <a:bodyPr wrap="square">
            <a:spAutoFit/>
          </a:bodyPr>
          <a:lstStyle/>
          <a:p>
            <a:pPr>
              <a:defRPr sz="1400">
                <a:solidFill>
                  <a:srgbClr val="2D2926"/>
                </a:solidFill>
                <a:latin typeface="Calibri"/>
              </a:defRPr>
            </a:pPr>
            <a:r>
              <a:t>• Xây dựng đồng bộ thể chế kinh tế thị trường định hướng xã hội chủ nghĩa.</a:t>
            </a:r>
            <a:br/>
            <a:r>
              <a:t>• Phát triển kinh tế nhiều thành phần, giữ vững vai trò dẫn dắt chủ đạo của thành phần kinh tế nhà nước.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Thách thức &amp; Xu hướng phát triển hiện đại</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389120"/>
          </a:xfrm>
          <a:prstGeom prst="roundRect">
            <a:avLst/>
          </a:prstGeom>
          <a:solidFill>
            <a:srgbClr val="FFFFFF"/>
          </a:solidFill>
          <a:ln w="19050">
            <a:solidFill>
              <a:srgbClr val="A84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57200"/>
          </a:xfrm>
          <a:prstGeom prst="rect">
            <a:avLst/>
          </a:prstGeom>
          <a:noFill/>
        </p:spPr>
        <p:txBody>
          <a:bodyPr wrap="square">
            <a:spAutoFit/>
          </a:bodyPr>
          <a:lstStyle/>
          <a:p>
            <a:pPr>
              <a:defRPr sz="1800" b="1">
                <a:solidFill>
                  <a:srgbClr val="8C6239"/>
                </a:solidFill>
                <a:latin typeface="Georgia"/>
              </a:defRPr>
            </a:pPr>
            <a:r>
              <a:t>⚠ THÁCH THỨC LỚN NHẤT</a:t>
            </a:r>
          </a:p>
        </p:txBody>
      </p:sp>
      <p:sp>
        <p:nvSpPr>
          <p:cNvPr id="6" name="TextBox 5"/>
          <p:cNvSpPr txBox="1"/>
          <p:nvPr/>
        </p:nvSpPr>
        <p:spPr>
          <a:xfrm>
            <a:off x="914400" y="2331720"/>
            <a:ext cx="4754880" cy="3566160"/>
          </a:xfrm>
          <a:prstGeom prst="rect">
            <a:avLst/>
          </a:prstGeom>
          <a:noFill/>
        </p:spPr>
        <p:txBody>
          <a:bodyPr wrap="square">
            <a:spAutoFit/>
          </a:bodyPr>
          <a:lstStyle/>
          <a:p>
            <a:pPr>
              <a:defRPr sz="1400">
                <a:solidFill>
                  <a:srgbClr val="2D2926"/>
                </a:solidFill>
                <a:latin typeface="Calibri"/>
              </a:defRPr>
            </a:pPr>
            <a:r>
              <a:t>1. Già hóa dân số nhanh:</a:t>
            </a:r>
            <a:br/>
            <a:r>
              <a:t>Dự kiến đạt tỷ lệ 25% người cao tuổi vào năm 2050, gây áp lực trực tiếp lên lực lượng lao động trẻ.</a:t>
            </a:r>
            <a:br/>
            <a:br/>
            <a:r>
              <a:t>2. Bẫy thu nhập trung bình:</a:t>
            </a:r>
            <a:br/>
            <a:r>
              <a:t>Nguy cơ tụt hậu sâu sắc về năng suất lao động xã hội và công nghệ lõi tự chủ.</a:t>
            </a:r>
            <a:br/>
            <a:br/>
            <a:r>
              <a:t>3. Chảy máu chất xám:</a:t>
            </a:r>
            <a:br/>
            <a:r>
              <a:t>Thách thức thu hút và đãi ngộ nhân tài kỹ thuật trình độ cao.</a:t>
            </a:r>
          </a:p>
        </p:txBody>
      </p:sp>
      <p:sp>
        <p:nvSpPr>
          <p:cNvPr id="7" name="Rounded Rectangle 6"/>
          <p:cNvSpPr/>
          <p:nvPr/>
        </p:nvSpPr>
        <p:spPr>
          <a:xfrm>
            <a:off x="6339535" y="1645920"/>
            <a:ext cx="5120640" cy="4389120"/>
          </a:xfrm>
          <a:prstGeom prst="roundRect">
            <a:avLst/>
          </a:prstGeom>
          <a:solidFill>
            <a:srgbClr val="FFFFFF"/>
          </a:solidFill>
          <a:ln w="19050">
            <a:solidFill>
              <a:srgbClr val="4E7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2415" y="1828800"/>
            <a:ext cx="4754880" cy="457200"/>
          </a:xfrm>
          <a:prstGeom prst="rect">
            <a:avLst/>
          </a:prstGeom>
          <a:noFill/>
        </p:spPr>
        <p:txBody>
          <a:bodyPr wrap="square">
            <a:spAutoFit/>
          </a:bodyPr>
          <a:lstStyle/>
          <a:p>
            <a:pPr>
              <a:defRPr sz="1800" b="1">
                <a:solidFill>
                  <a:srgbClr val="8C6239"/>
                </a:solidFill>
                <a:latin typeface="Georgia"/>
              </a:defRPr>
            </a:pPr>
            <a:r>
              <a:t>☘ XU HƯỚNG CHUYỂN DỊCH</a:t>
            </a:r>
          </a:p>
        </p:txBody>
      </p:sp>
      <p:sp>
        <p:nvSpPr>
          <p:cNvPr id="9" name="TextBox 8"/>
          <p:cNvSpPr txBox="1"/>
          <p:nvPr/>
        </p:nvSpPr>
        <p:spPr>
          <a:xfrm>
            <a:off x="6522415" y="2331720"/>
            <a:ext cx="4754880" cy="3566160"/>
          </a:xfrm>
          <a:prstGeom prst="rect">
            <a:avLst/>
          </a:prstGeom>
          <a:noFill/>
        </p:spPr>
        <p:txBody>
          <a:bodyPr wrap="square">
            <a:spAutoFit/>
          </a:bodyPr>
          <a:lstStyle/>
          <a:p>
            <a:pPr>
              <a:defRPr sz="1400">
                <a:solidFill>
                  <a:srgbClr val="2D2926"/>
                </a:solidFill>
                <a:latin typeface="Calibri"/>
              </a:defRPr>
            </a:pPr>
            <a:r>
              <a:t>1. Chuyển đổi số toàn diện:</a:t>
            </a:r>
            <a:br/>
            <a:r>
              <a:t>Đưa giải pháp thông minh vào chuỗi vận hành quản trị và dịch vụ công.</a:t>
            </a:r>
            <a:br/>
            <a:br/>
            <a:r>
              <a:t>2. Kinh tế xanh &amp; tuần hoàn:</a:t>
            </a:r>
            <a:br/>
            <a:r>
              <a:t>Chuyển đổi từ mô hình tuyến tính sang tuần hoàn, cam kết hướng tới Net Zero 2050.</a:t>
            </a:r>
            <a:br/>
            <a:br/>
            <a:r>
              <a:t>3. Công nghiệp nền tảng:</a:t>
            </a:r>
            <a:br/>
            <a:r>
              <a:t>Tập trung phát triển công nghiệp chế biến, chế tạo nội địa có giá trị gia tăng lớn.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AE5DA"/>
        </a:solidFill>
        <a:effectLst/>
      </p:bgPr>
    </p:bg>
    <p:spTree>
      <p:nvGrpSpPr>
        <p:cNvPr id="1" name=""/>
        <p:cNvGrpSpPr/>
        <p:nvPr/>
      </p:nvGrpSpPr>
      <p:grpSpPr/>
      <p:sp>
        <p:nvSpPr>
          <p:cNvPr id="2" name="TextBox 1"/>
          <p:cNvSpPr txBox="1"/>
          <p:nvPr/>
        </p:nvSpPr>
        <p:spPr>
          <a:xfrm>
            <a:off x="1371600" y="2011680"/>
            <a:ext cx="9445752" cy="2743200"/>
          </a:xfrm>
          <a:prstGeom prst="rect">
            <a:avLst/>
          </a:prstGeom>
          <a:noFill/>
        </p:spPr>
        <p:txBody>
          <a:bodyPr wrap="square">
            <a:spAutoFit/>
          </a:bodyPr>
          <a:lstStyle/>
          <a:p>
            <a:pPr algn="ctr">
              <a:spcAft>
                <a:spcPts val="1000"/>
              </a:spcAft>
              <a:defRPr sz="1800" b="1">
                <a:solidFill>
                  <a:srgbClr val="8C6239"/>
                </a:solidFill>
                <a:latin typeface="Calibri"/>
              </a:defRPr>
            </a:pPr>
            <a:r>
              <a:t>PHẦN 2</a:t>
            </a:r>
          </a:p>
          <a:p>
            <a:pPr algn="ctr">
              <a:spcAft>
                <a:spcPts val="1500"/>
              </a:spcAft>
              <a:defRPr sz="4000" b="1">
                <a:solidFill>
                  <a:srgbClr val="2D2926"/>
                </a:solidFill>
                <a:latin typeface="Georgia"/>
              </a:defRPr>
            </a:pPr>
            <a:r>
              <a:t>10 CÂU HỎI TRẮC NGHIỆM ÔN TẬP</a:t>
            </a:r>
          </a:p>
          <a:p>
            <a:pPr algn="ctr">
              <a:defRPr sz="1400" i="1">
                <a:solidFill>
                  <a:srgbClr val="2D2926"/>
                </a:solidFill>
                <a:latin typeface="Calibri"/>
              </a:defRPr>
            </a:pPr>
            <a:r>
              <a:t>Hệ thống câu hỏi ôn tập bám sát nội dung giáo trình chính quy</a:t>
            </a:r>
            <a:br/>
            <a:r>
              <a:t>(Hướng dẫn cài đặt hiệu ứng click chuột hiện đáp án nằm ở phần Ghi chú dưới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Câu hỏi ôn tập kiến thức (Câu 1 - 3)</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1: Công nghiệp hóa (CNH) được định nghĩa chính xác nhất là gì?</a:t>
            </a:r>
          </a:p>
          <a:p>
            <a:pPr>
              <a:spcAft>
                <a:spcPts val="400"/>
              </a:spcAft>
              <a:defRPr sz="1200">
                <a:solidFill>
                  <a:srgbClr val="2D2926"/>
                </a:solidFill>
                <a:latin typeface="Calibri"/>
              </a:defRPr>
            </a:pPr>
            <a:r>
              <a:t>A. Tập trung xây dựng nhiều nhà máy xí nghiệp quy mô lớn trên cả nước</a:t>
            </a:r>
          </a:p>
          <a:p>
            <a:pPr>
              <a:spcAft>
                <a:spcPts val="400"/>
              </a:spcAft>
              <a:defRPr sz="1200" b="1">
                <a:solidFill>
                  <a:srgbClr val="8C6239"/>
                </a:solidFill>
                <a:latin typeface="Calibri"/>
              </a:defRPr>
            </a:pPr>
            <a:r>
              <a:t>B. Chuyển đổi căn bản toàn diện nền sản xuất từ lao động thủ công sang lao động bằng máy móc  ✓ (Đáp án đúng)</a:t>
            </a:r>
          </a:p>
        </p:txBody>
      </p:sp>
      <p:sp>
        <p:nvSpPr>
          <p:cNvPr id="5" name="Rounded Rectangle 4"/>
          <p:cNvSpPr/>
          <p:nvPr/>
        </p:nvSpPr>
        <p:spPr>
          <a:xfrm>
            <a:off x="6339535"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2: Cuộc Cách mạng Công nghiệp lần thứ nhất bắt đầu từ quốc gia nào?</a:t>
            </a:r>
          </a:p>
          <a:p>
            <a:pPr>
              <a:spcAft>
                <a:spcPts val="400"/>
              </a:spcAft>
              <a:defRPr sz="1200" b="1">
                <a:solidFill>
                  <a:srgbClr val="8C6239"/>
                </a:solidFill>
                <a:latin typeface="Calibri"/>
              </a:defRPr>
            </a:pPr>
            <a:r>
              <a:t>A. Nước Anh, khởi đầu từ giữa thế kỷ XVIII  ✓ (Đáp án đúng)</a:t>
            </a:r>
          </a:p>
          <a:p>
            <a:pPr>
              <a:spcAft>
                <a:spcPts val="400"/>
              </a:spcAft>
              <a:defRPr sz="1200">
                <a:solidFill>
                  <a:srgbClr val="2D2926"/>
                </a:solidFill>
                <a:latin typeface="Calibri"/>
              </a:defRPr>
            </a:pPr>
            <a:r>
              <a:t>B. Nước Pháp, khởi đầu từ đầu thế kỷ XIX</a:t>
            </a:r>
          </a:p>
          <a:p>
            <a:pPr>
              <a:spcAft>
                <a:spcPts val="400"/>
              </a:spcAft>
              <a:defRPr sz="1200">
                <a:solidFill>
                  <a:srgbClr val="2D2926"/>
                </a:solidFill>
                <a:latin typeface="Calibri"/>
              </a:defRPr>
            </a:pPr>
            <a:r>
              <a:t>C. Nước Đức, khởi đầu từ cuối thế kỷ XVII</a:t>
            </a:r>
          </a:p>
        </p:txBody>
      </p:sp>
      <p:sp>
        <p:nvSpPr>
          <p:cNvPr id="6" name="Rounded Rectangle 5"/>
          <p:cNvSpPr/>
          <p:nvPr/>
        </p:nvSpPr>
        <p:spPr>
          <a:xfrm>
            <a:off x="731520" y="4023360"/>
            <a:ext cx="10728655" cy="2103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3: Phát minh then chốt nào được xem là mốc mở đầu cho quá trình cơ giới hóa sản xuất?</a:t>
            </a:r>
          </a:p>
          <a:p>
            <a:pPr>
              <a:spcAft>
                <a:spcPts val="400"/>
              </a:spcAft>
              <a:defRPr sz="1200">
                <a:solidFill>
                  <a:srgbClr val="2D2926"/>
                </a:solidFill>
                <a:latin typeface="Calibri"/>
              </a:defRPr>
            </a:pPr>
            <a:r>
              <a:t>A. Máy thoi bay trong ngành dệt của John Kay phát minh vào năm 1733</a:t>
            </a:r>
          </a:p>
          <a:p>
            <a:pPr>
              <a:spcAft>
                <a:spcPts val="400"/>
              </a:spcAft>
              <a:defRPr sz="1200" b="1">
                <a:solidFill>
                  <a:srgbClr val="8C6239"/>
                </a:solidFill>
                <a:latin typeface="Calibri"/>
              </a:defRPr>
            </a:pPr>
            <a:r>
              <a:t>B. Động cơ hơi nước cải tiến hoàn thiện của James Watt chế tạo vào năm 1784  ✓ (Đáp án đúng)</a:t>
            </a:r>
          </a:p>
          <a:p>
            <a:pPr>
              <a:spcAft>
                <a:spcPts val="400"/>
              </a:spcAft>
              <a:defRPr sz="1200">
                <a:solidFill>
                  <a:srgbClr val="2D2926"/>
                </a:solidFill>
                <a:latin typeface="Calibri"/>
              </a:defRPr>
            </a:pPr>
            <a:r>
              <a:t>C. Đầu máy xe lửa chạy bằng hơi nước của Stephenson chế tạo vào năm 1814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Câu hỏi ôn tập kiến thức (Câu 4 - 6)</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4: Theo học thuyết của C. Mác, cuộc CMCN 1.0 trải qua giai đoạn phát triển cao nhất nào?</a:t>
            </a:r>
          </a:p>
          <a:p>
            <a:pPr>
              <a:spcAft>
                <a:spcPts val="400"/>
              </a:spcAft>
              <a:defRPr sz="1200">
                <a:solidFill>
                  <a:srgbClr val="2D2926"/>
                </a:solidFill>
                <a:latin typeface="Calibri"/>
              </a:defRPr>
            </a:pPr>
            <a:r>
              <a:t>A. Hiệp tác giản đơn thủ công nghiệp</a:t>
            </a:r>
          </a:p>
          <a:p>
            <a:pPr>
              <a:spcAft>
                <a:spcPts val="400"/>
              </a:spcAft>
              <a:defRPr sz="1200">
                <a:solidFill>
                  <a:srgbClr val="2D2926"/>
                </a:solidFill>
                <a:latin typeface="Calibri"/>
              </a:defRPr>
            </a:pPr>
            <a:r>
              <a:t>B. Công trường thủ công bán cơ khí</a:t>
            </a:r>
          </a:p>
          <a:p>
            <a:pPr>
              <a:spcAft>
                <a:spcPts val="400"/>
              </a:spcAft>
              <a:defRPr sz="1200" b="1">
                <a:solidFill>
                  <a:srgbClr val="8C6239"/>
                </a:solidFill>
                <a:latin typeface="Calibri"/>
              </a:defRPr>
            </a:pPr>
            <a:r>
              <a:t>C. Đại công nghiệp cơ khí hóa hoàn chỉnh  ✓ (Đáp án đúng)</a:t>
            </a:r>
          </a:p>
        </p:txBody>
      </p:sp>
      <p:sp>
        <p:nvSpPr>
          <p:cNvPr id="5" name="Rounded Rectangle 4"/>
          <p:cNvSpPr/>
          <p:nvPr/>
        </p:nvSpPr>
        <p:spPr>
          <a:xfrm>
            <a:off x="6339535"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5: Đặc trưng kỹ thuật nổi bật nhất của Cách mạng Công nghiệp 2.0 là gì?</a:t>
            </a:r>
          </a:p>
          <a:p>
            <a:pPr>
              <a:spcAft>
                <a:spcPts val="400"/>
              </a:spcAft>
              <a:defRPr sz="1200">
                <a:solidFill>
                  <a:srgbClr val="2D2926"/>
                </a:solidFill>
                <a:latin typeface="Calibri"/>
              </a:defRPr>
            </a:pPr>
            <a:r>
              <a:t>A. Động cơ hơi nước và dệt máy cơ khí</a:t>
            </a:r>
          </a:p>
          <a:p>
            <a:pPr>
              <a:spcAft>
                <a:spcPts val="400"/>
              </a:spcAft>
              <a:defRPr sz="1200" b="1">
                <a:solidFill>
                  <a:srgbClr val="8C6239"/>
                </a:solidFill>
                <a:latin typeface="Calibri"/>
              </a:defRPr>
            </a:pPr>
            <a:r>
              <a:t>B. Điện năng, dây chuyền lắp ráp hàng loạt và động cơ đốt trong  ✓ (Đáp án đúng)</a:t>
            </a:r>
          </a:p>
          <a:p>
            <a:pPr>
              <a:spcAft>
                <a:spcPts val="400"/>
              </a:spcAft>
              <a:defRPr sz="1200">
                <a:solidFill>
                  <a:srgbClr val="2D2926"/>
                </a:solidFill>
                <a:latin typeface="Calibri"/>
              </a:defRPr>
            </a:pPr>
            <a:r>
              <a:t>C. Máy vi tính, chất bán dẫn phổ cập và mạng lưới internet</a:t>
            </a:r>
          </a:p>
        </p:txBody>
      </p:sp>
      <p:sp>
        <p:nvSpPr>
          <p:cNvPr id="6" name="Rounded Rectangle 5"/>
          <p:cNvSpPr/>
          <p:nvPr/>
        </p:nvSpPr>
        <p:spPr>
          <a:xfrm>
            <a:off x="731520" y="4023360"/>
            <a:ext cx="10728655" cy="210312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6: Điểm cốt lõi nhất giúp phân biệt rõ rệt giữa CMCN 3.0 và CMCN 4.0 là gì?</a:t>
            </a:r>
          </a:p>
          <a:p>
            <a:pPr>
              <a:spcAft>
                <a:spcPts val="400"/>
              </a:spcAft>
              <a:defRPr sz="1200" b="1">
                <a:solidFill>
                  <a:srgbClr val="8C6239"/>
                </a:solidFill>
                <a:latin typeface="Calibri"/>
              </a:defRPr>
            </a:pPr>
            <a:r>
              <a:t>A. CMCN 3.0 dựa trên số hóa tự động hóa riêng lẻ; CMCN 4.0 là hệ thống thông minh, siêu kết nối AI, IoT và Big Data thực thể  ✓ (Đáp án đúng)</a:t>
            </a:r>
          </a:p>
          <a:p>
            <a:pPr>
              <a:spcAft>
                <a:spcPts val="400"/>
              </a:spcAft>
              <a:defRPr sz="1200">
                <a:solidFill>
                  <a:srgbClr val="2D2926"/>
                </a:solidFill>
                <a:latin typeface="Calibri"/>
              </a:defRPr>
            </a:pPr>
            <a:r>
              <a:t>B. CMCN 3.0 phát triển năng lượng hạt nhân còn CMCN 4.0 tập trung năng lượng hóa thạch</a:t>
            </a:r>
          </a:p>
          <a:p>
            <a:pPr>
              <a:spcAft>
                <a:spcPts val="400"/>
              </a:spcAft>
              <a:defRPr sz="1200">
                <a:solidFill>
                  <a:srgbClr val="2D2926"/>
                </a:solidFill>
                <a:latin typeface="Calibri"/>
              </a:defRPr>
            </a:pPr>
            <a:r>
              <a:t>C. Không có sự cải tiến khoa học khác biệt, chỉ là tên gọi thương mại mới thay thế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200" b="1">
                <a:solidFill>
                  <a:srgbClr val="2D2926"/>
                </a:solidFill>
                <a:latin typeface="Georgia"/>
              </a:defRPr>
            </a:pPr>
            <a:r>
              <a:t>Câu hỏi ôn tập kiến thức (Câu 7 - 10)</a:t>
            </a:r>
          </a:p>
        </p:txBody>
      </p:sp>
      <p:sp>
        <p:nvSpPr>
          <p:cNvPr id="3" name="Rectangle 2"/>
          <p:cNvSpPr/>
          <p:nvPr/>
        </p:nvSpPr>
        <p:spPr>
          <a:xfrm>
            <a:off x="731520" y="1234440"/>
            <a:ext cx="10728655" cy="18288"/>
          </a:xfrm>
          <a:prstGeom prst="rect">
            <a:avLst/>
          </a:prstGeom>
          <a:solidFill>
            <a:srgbClr val="8C6239"/>
          </a:solidFill>
          <a:ln>
            <a:solidFill>
              <a:srgbClr val="8C6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7: Đặc điểm nào dưới đây KHÔNG phải là đặc điểm của CNH ở nước ta?</a:t>
            </a:r>
          </a:p>
          <a:p>
            <a:pPr>
              <a:spcAft>
                <a:spcPts val="400"/>
              </a:spcAft>
              <a:defRPr sz="1200">
                <a:solidFill>
                  <a:srgbClr val="2D2926"/>
                </a:solidFill>
                <a:latin typeface="Calibri"/>
              </a:defRPr>
            </a:pPr>
            <a:r>
              <a:t>A. Tiến hành CNH đi kèm mục tiêu định hướng xã hội chủ nghĩa</a:t>
            </a:r>
          </a:p>
          <a:p>
            <a:pPr>
              <a:spcAft>
                <a:spcPts val="400"/>
              </a:spcAft>
              <a:defRPr sz="1200" b="1">
                <a:solidFill>
                  <a:srgbClr val="8C6239"/>
                </a:solidFill>
                <a:latin typeface="Calibri"/>
              </a:defRPr>
            </a:pPr>
            <a:r>
              <a:t>B. CNH phát triển theo mô hình tự do hoang dã, không có sự định hướng quản lý từ nhà nước  ✓ (Đáp án đúng)</a:t>
            </a:r>
          </a:p>
        </p:txBody>
      </p:sp>
      <p:sp>
        <p:nvSpPr>
          <p:cNvPr id="5" name="Rounded Rectangle 4"/>
          <p:cNvSpPr/>
          <p:nvPr/>
        </p:nvSpPr>
        <p:spPr>
          <a:xfrm>
            <a:off x="6339535" y="164592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8: Thách thức nhân khẩu học nghiêm trọng nhất của CNH Việt Nam là gì?</a:t>
            </a:r>
          </a:p>
          <a:p>
            <a:pPr>
              <a:spcAft>
                <a:spcPts val="400"/>
              </a:spcAft>
              <a:defRPr sz="1200" b="1">
                <a:solidFill>
                  <a:srgbClr val="8C6239"/>
                </a:solidFill>
                <a:latin typeface="Calibri"/>
              </a:defRPr>
            </a:pPr>
            <a:r>
              <a:t>A. Tỷ lệ già hóa dân số tăng quá nhanh và nguy cơ thiếu lao động kỹ thuật cao  ✓ (Đáp án đúng)</a:t>
            </a:r>
          </a:p>
          <a:p>
            <a:pPr>
              <a:spcAft>
                <a:spcPts val="400"/>
              </a:spcAft>
              <a:defRPr sz="1200">
                <a:solidFill>
                  <a:srgbClr val="2D2926"/>
                </a:solidFill>
                <a:latin typeface="Calibri"/>
              </a:defRPr>
            </a:pPr>
            <a:r>
              <a:t>B. Quy mô dân số giảm sút tuyệt đối đe dọa năng lực sản xuất</a:t>
            </a:r>
          </a:p>
        </p:txBody>
      </p:sp>
      <p:sp>
        <p:nvSpPr>
          <p:cNvPr id="6" name="Rounded Rectangle 5"/>
          <p:cNvSpPr/>
          <p:nvPr/>
        </p:nvSpPr>
        <p:spPr>
          <a:xfrm>
            <a:off x="731520" y="402336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9: Vì sao Việt Nam bắt buộc phải coi CNH là nhiệm vụ trung tâm suốt thời kỳ quá độ?</a:t>
            </a:r>
          </a:p>
          <a:p>
            <a:pPr>
              <a:spcAft>
                <a:spcPts val="400"/>
              </a:spcAft>
              <a:defRPr sz="1200" b="1">
                <a:solidFill>
                  <a:srgbClr val="8C6239"/>
                </a:solidFill>
                <a:latin typeface="Calibri"/>
              </a:defRPr>
            </a:pPr>
            <a:r>
              <a:t>A. Do xuất phát điểm từ nước nông nghiệp lạc hậu, cần xây dựng cơ sở vật chất - kỹ thuật cho CNXH  ✓ (Đáp án đúng)</a:t>
            </a:r>
          </a:p>
          <a:p>
            <a:pPr>
              <a:spcAft>
                <a:spcPts val="400"/>
              </a:spcAft>
              <a:defRPr sz="1200">
                <a:solidFill>
                  <a:srgbClr val="2D2926"/>
                </a:solidFill>
                <a:latin typeface="Calibri"/>
              </a:defRPr>
            </a:pPr>
            <a:r>
              <a:t>B. Nhằm phục vụ hoàn hảo các yêu cầu viện trợ của đối tác phương Tây</a:t>
            </a:r>
          </a:p>
        </p:txBody>
      </p:sp>
      <p:sp>
        <p:nvSpPr>
          <p:cNvPr id="7" name="Rounded Rectangle 6"/>
          <p:cNvSpPr/>
          <p:nvPr/>
        </p:nvSpPr>
        <p:spPr>
          <a:xfrm>
            <a:off x="6339535" y="4023360"/>
            <a:ext cx="5120640" cy="201168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400" b="1">
                <a:solidFill>
                  <a:srgbClr val="2D2926"/>
                </a:solidFill>
                <a:latin typeface="Georgia"/>
              </a:defRPr>
            </a:pPr>
            <a:r>
              <a:t>Câu 10: Vị trí và vai trò của kinh tế nhà nước trong quá trình CNH là gì?</a:t>
            </a:r>
          </a:p>
          <a:p>
            <a:pPr>
              <a:spcAft>
                <a:spcPts val="400"/>
              </a:spcAft>
              <a:defRPr sz="1200" b="1">
                <a:solidFill>
                  <a:srgbClr val="8C6239"/>
                </a:solidFill>
                <a:latin typeface="Calibri"/>
              </a:defRPr>
            </a:pPr>
            <a:r>
              <a:t>A. Giữ vai trò chủ đạo định hướng, hỗ trợ các thành phần kinh tế phát triển  ✓ (Đáp án đúng)</a:t>
            </a:r>
          </a:p>
          <a:p>
            <a:pPr>
              <a:spcAft>
                <a:spcPts val="400"/>
              </a:spcAft>
              <a:defRPr sz="1200">
                <a:solidFill>
                  <a:srgbClr val="2D2926"/>
                </a:solidFill>
                <a:latin typeface="Calibri"/>
              </a:defRPr>
            </a:pPr>
            <a:r>
              <a:t>B. Là thành phần kinh tế duy nhất được phép hoạt động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C6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5752" cy="4114800"/>
          </a:xfrm>
          <a:prstGeom prst="rect">
            <a:avLst/>
          </a:prstGeom>
          <a:noFill/>
        </p:spPr>
        <p:txBody>
          <a:bodyPr wrap="square">
            <a:spAutoFit/>
          </a:bodyPr>
          <a:lstStyle/>
          <a:p>
            <a:pPr algn="ctr">
              <a:spcAft>
                <a:spcPts val="1500"/>
              </a:spcAft>
              <a:defRPr sz="4400" b="1">
                <a:solidFill>
                  <a:srgbClr val="8C6239"/>
                </a:solidFill>
                <a:latin typeface="Georgia"/>
              </a:defRPr>
            </a:pPr>
            <a:r>
              <a:t>XIN CHÂN THÀNH CẢM ƠN!</a:t>
            </a:r>
          </a:p>
          <a:p>
            <a:pPr algn="ctr">
              <a:spcAft>
                <a:spcPts val="4000"/>
              </a:spcAft>
              <a:defRPr sz="1800" i="1">
                <a:solidFill>
                  <a:srgbClr val="2D2926"/>
                </a:solidFill>
                <a:latin typeface="Calibri"/>
              </a:defRPr>
            </a:pPr>
            <a:r>
              <a:t>Rất mong nhận được sự đóng góp và thảo luận từ Thầy cùng các bạn học viên.</a:t>
            </a:r>
          </a:p>
        </p:txBody>
      </p:sp>
      <p:sp>
        <p:nvSpPr>
          <p:cNvPr id="4" name="Rounded Rectangle 3"/>
          <p:cNvSpPr/>
          <p:nvPr/>
        </p:nvSpPr>
        <p:spPr>
          <a:xfrm>
            <a:off x="3346704" y="4023360"/>
            <a:ext cx="5486400" cy="1371600"/>
          </a:xfrm>
          <a:prstGeom prst="roundRect">
            <a:avLst/>
          </a:prstGeom>
          <a:solidFill>
            <a:srgbClr val="FFFFFF"/>
          </a:solidFill>
          <a:ln w="19050">
            <a:solidFill>
              <a:srgbClr val="D2C4B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spcAft>
                <a:spcPts val="800"/>
              </a:spcAft>
              <a:defRPr sz="1300" b="1">
                <a:solidFill>
                  <a:srgbClr val="8C6239"/>
                </a:solidFill>
                <a:latin typeface="Georgia"/>
              </a:defRPr>
            </a:pPr>
            <a:r>
              <a:t>THÔNG TIN LIÊN HỆ &amp; TÀI LIỆU KHẢO SÁT</a:t>
            </a:r>
          </a:p>
          <a:p>
            <a:pPr algn="ctr">
              <a:defRPr sz="1100">
                <a:solidFill>
                  <a:srgbClr val="2D2926"/>
                </a:solidFill>
                <a:latin typeface="Calibri"/>
              </a:defRPr>
            </a:pPr>
            <a:r>
              <a:t>Người thực hiện: Nguyễn Quốc Minh</a:t>
            </a:r>
            <a:br/>
            <a:r>
              <a:t>Nguồn tham chiếu chính quy: Giáo trình Kinh tế Chính trị Mác-Lênin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